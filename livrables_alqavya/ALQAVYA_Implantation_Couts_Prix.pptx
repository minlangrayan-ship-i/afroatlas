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7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65adc34-f441-5ca7-913d-e5ee25b28a85}">
          <p14:sldIdLst>
            <p14:sldId id="256"/>
            <p14:sldId id="257"/>
          </p14:sldIdLst>
        </p14:section>
        <p14:section name="Le projet" id="{d7c9293e-419a-989d-0864-1a48d78df7e5}">
          <p14:sldIdLst>
            <p14:sldId id="258"/>
            <p14:sldId id="259"/>
          </p14:sldIdLst>
        </p14:section>
        <p14:section name="Organisation" id="{93a32fa7-fdd5-f46e-06f1-756f118bb833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ûts réels" id="{65c93fd1-2802-ef3c-2a09-aee2e218bbf5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rix" id="{041384ca-94bf-b342-f431-939681adf7c4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onclusion" id="{daaf4fa5-e322-d3e0-17ee-927d5e28a0ba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Permis</c:v>
                  </c:pt>
                  <c:pt idx="1">
                    <c:v>Droits et notaire</c:v>
                  </c:pt>
                  <c:pt idx="2">
                    <c:v>Clôture</c:v>
                  </c:pt>
                  <c:pt idx="3">
                    <c:v>Entrepôt</c:v>
                  </c:pt>
                  <c:pt idx="4">
                    <c:v>Bureaux standard</c:v>
                  </c:pt>
                  <c:pt idx="5">
                    <c:v>Terrain</c:v>
                  </c:pt>
                  <c:pt idx="6">
                    <c:v>Studio, réunions, direction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7.5</c:v>
                </c:pt>
                <c:pt idx="2">
                  <c:v>35.3</c:v>
                </c:pt>
                <c:pt idx="3">
                  <c:v>78</c:v>
                </c:pt>
                <c:pt idx="4">
                  <c:v>92</c:v>
                </c:pt>
                <c:pt idx="5">
                  <c:v>93.8</c:v>
                </c:pt>
                <c:pt idx="6">
                  <c:v>98.6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Impression</c:v>
                  </c:pt>
                  <c:pt idx="1">
                    <c:v>Sécurité</c:v>
                  </c:pt>
                  <c:pt idx="2">
                    <c:v>Électrogène</c:v>
                  </c:pt>
                  <c:pt idx="3">
                    <c:v>Studio photo</c:v>
                  </c:pt>
                  <c:pt idx="4">
                    <c:v>Informatique</c:v>
                  </c:pt>
                  <c:pt idx="5">
                    <c:v>Mobilier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3.2</c:v>
                </c:pt>
                <c:pt idx="2">
                  <c:v>6.8</c:v>
                </c:pt>
                <c:pt idx="3">
                  <c:v>13.3</c:v>
                </c:pt>
                <c:pt idx="4">
                  <c:v>19.3</c:v>
                </c:pt>
                <c:pt idx="5">
                  <c:v>35.2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Studio Premium (3)</c:v>
                  </c:pt>
                  <c:pt idx="1">
                    <c:v>Support (3)</c:v>
                  </c:pt>
                  <c:pt idx="2">
                    <c:v>Clients &amp; vendeurs (5)</c:v>
                  </c:pt>
                  <c:pt idx="3">
                    <c:v>Direction (1)</c:v>
                  </c:pt>
                  <c:pt idx="4">
                    <c:v>Informatique &amp; tracking (4)</c:v>
                  </c:pt>
                  <c:pt idx="5">
                    <c:v>Opérations (15)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0.83</c:v>
                </c:pt>
                <c:pt idx="2">
                  <c:v>0.98</c:v>
                </c:pt>
                <c:pt idx="3">
                  <c:v>1.26</c:v>
                </c:pt>
                <c:pt idx="4">
                  <c:v>2.16</c:v>
                </c:pt>
                <c:pt idx="5">
                  <c:v>2.88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1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Logiciels, taxe foncière</c:v>
                  </c:pt>
                  <c:pt idx="1">
                    <c:v>Gardiennage</c:v>
                  </c:pt>
                  <c:pt idx="2">
                    <c:v>Électricité et internet</c:v>
                  </c:pt>
                  <c:pt idx="3">
                    <c:v>Carburant</c:v>
                  </c:pt>
                  <c:pt idx="4">
                    <c:v>Amortissements</c:v>
                  </c:pt>
                  <c:pt idx="5">
                    <c:v>Salaires Yaoundé</c:v>
                  </c:pt>
                  <c:pt idx="6">
                    <c:v>Siège France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</c:v>
                </c:pt>
                <c:pt idx="1">
                  <c:v>0.6</c:v>
                </c:pt>
                <c:pt idx="2">
                  <c:v>0.66</c:v>
                </c:pt>
                <c:pt idx="3">
                  <c:v>0.74</c:v>
                </c:pt>
                <c:pt idx="4">
                  <c:v>3.33</c:v>
                </c:pt>
                <c:pt idx="5">
                  <c:v>8.92</c:v>
                </c:pt>
                <c:pt idx="6">
                  <c:v>10.04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1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Frais de siège, siège imposé</c:v>
                  </c:pt>
                  <c:pt idx="1">
                    <c:v>Frais de siège, siège au coût</c:v>
                  </c:pt>
                  <c:pt idx="2">
                    <c:v>Dividendes (régime PME)</c:v>
                  </c:pt>
                  <c:pt idx="3">
                    <c:v>Dividendes (droit commun)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54.9</c:v>
                </c:pt>
                <c:pt idx="1">
                  <c:v>67.7</c:v>
                </c:pt>
                <c:pt idx="2">
                  <c:v>63.6</c:v>
                </c:pt>
                <c:pt idx="3">
                  <c:v>60.7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Moto (amortissement)</c:v>
                  </c:pt>
                  <c:pt idx="1">
                    <c:v>Carburant</c:v>
                  </c:pt>
                  <c:pt idx="2">
                    <c:v>Coursier (salaire chargé)</c:v>
                  </c:pt>
                  <c:pt idx="3">
                    <c:v>Manutention au hub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228</c:v>
                </c:pt>
                <c:pt idx="2">
                  <c:v>431</c:v>
                </c:pt>
                <c:pt idx="3">
                  <c:v>804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bg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Commission 20 %</c:v>
                  </c:pt>
                  <c:pt idx="1">
                    <c:v>Commission 18 %</c:v>
                  </c:pt>
                  <c:pt idx="2">
                    <c:v>Commission 15 %</c:v>
                  </c:pt>
                  <c:pt idx="3">
                    <c:v>Commission 12 %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6540</c:v>
                </c:pt>
                <c:pt idx="1">
                  <c:v>7274</c:v>
                </c:pt>
                <c:pt idx="2">
                  <c:v>8746</c:v>
                </c:pt>
                <c:pt idx="3">
                  <c:v>10966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100" u="none">
                  <a:solidFill>
                    <a:schemeClr val="bg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bg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document présente l'organisation multinationale d'ALQAVYA (siège en France, maison mère Afrique à Yaoundé, hubs), le coût réel de cette implantation et des prix calculés à partir de ces coûts. Chaque prix d'entrée vient d'une source publiée ; les surfaces, effectifs et volumes sont des hypothèses explicites. Sources détaillées : classeur ALQAVYA_Modele_Couts_Prix.xlsx, feuilles Hypothèses et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document part du projet, décrit l'organisation demandée (deux maisons mères, hubs), chiffre l'implantation, puis en déduit les prix. Sources détaillées : classeur ALQAVYA_Modele_Couts_Prix.xlsx, feuilles Hypothèses et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marché e-commerce camerounais est estimé à 506 M USD en 2025 (ECDB) et 27 % des internautes y achetaient ou vendaient en 2018 (camer.be). Jumia a quitté le Cameroun en novembre 2019 (Quartz) : il n'y a pas de grande marketplace de confiance en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leviers sont au cœur des coûts chiffrés dans la suite : les hubs portent la logistique, le Studio Premium porte la conversion et un revenu de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2 : structure juridique, chaîne de pilotage, programme des espaces de chaque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Cameroun : 30 % + 10 % de CAC = 33 %, ou 25 % + CAC = 27,5 % si CA ≤ 3 Md FCFA (DGI, fiche IS ; PwC). Minimum de perception : 2 % + CAC = 2,2 % du CA mensuel, dû même en perte (CGI art. 21). TVA : 17,5 % + CAC = 19,25 % ; la LF 2020 soumet aussi les commissions des plateformes à la TVA. France : IS 15 % jusqu'à 42 500 € de bénéfice si CA &lt; 10 M€ et capital détenu à 75 % au moins par des personnes physiques, puis 25 %. Taxe sur les non-résidents du numérique depuis le 1/1/2026 : 3 % du CA (3,3 % avec CAC). Convention fiscale France-Cameroun du 21/10/1976, avenants 1994 et 1999 : elle plafonne les retenues à la source, mais la retenue sur dividendes exonérés en France reste un coût définitif.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décrite par le porteur du projet : une maison mère en France (pilotage), une seule maison mère en Afrique (Yaoundé) qui supervise les hubs ; une ville ne peut accueillir qu'une maison mère.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surfaces sont des hypothèses de dimensionnement (à ajuster avec l'architecte). Elles déterminent le coût de construction : entrepôt et bureaux en finition standard, studio, salles de réunion et bureaux de direction en haut standing. Terrain : quartiers intermédiaires de Yaoundé (Mvan, Nkolbisson…) 25 000 à 50 000 FCFA/m² (infospratiques.cm).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SMIC brut au 1/6/2026 : 1 867,02 €/mois (info.gouv.fr). Contrôleur de gestion : 43 000-56 000 € brut/an (blog-rh). Coordinateur logistique internationale : 35 000-45 000 € (Robert Half). Charges patronales : 45 % (cadre, haut de la fourchette 42-45 %), sans la réduction générale dégressive : estimation prudente. Loyer de bureaux à Lyon : 198-233 €/m²/an HT HC (JLL, S1 2025) ; la ville du siège reste à choisir. Expert-comptable : 2 000-8 000 €/an ; RC Pro : 200-6 000 €/an ; banque : 9-50 €/mois.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S : construction 52,6 M, terrain 36,0 M, droits, notaire et permis 3,7 M, clôture HT 17,3 M FCFA. Hub M : construction 86,2 M, terrain 60,0 M, droits, notaire et permis 5,9 M, clôture HT 22,3 M FCFA. Terrain Bonabéri/Bomono 40 000-80 000 FCFA/m² (annonces expat.com) ; aucune source pour les villes moyennes. Construction standard 120 000-180 000 FCFA/m² (infospratiques.cm, 2026). Équipements du studio compact, sécurité et véhicules du hub : à ajouter.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3 : les coûts. Tous les montants viennent du classeur Excel, où chaque formule peut être vérifiée.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Hypothèses (choix modifiables, non sourcés par nature) : surfaces, effectifs, kilomètres par livraison, consommation électrique, durées d'amortissement, marge cible de 20 %, occupation du studio. Proxys signalés : salaire du photographe (graphiste), RH (salaire moyen formel), SAV (réceptionniste), commercial (secteur commerce et distribution). Le DG est pris au bas de la fourchette (start-up). Les durées d'amortissement sont à valider par l'expert-comptable (CGI, art.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Terrain : quartiers intermédiaires de Yaoundé (Mvan, Nkolbisson) 25 000-50 000 FCFA/m² (infospratiques.cm). Droits d'enregistrement 5 % (terrain urbain non bâti) et conservation foncière 2 % ; notaire selon le barème du décret 95/038 (4 % jusqu'à 3 M, puis 3 %, 1,5 %, 0,75 %, 0,5 % au-delà de 50 M), soit 8,0 % au total. Construction : standard 120 000-180 000, haut standing 280 000-450 000 FCFA/m² (infospratiques.cm, 2026) ; circulations (15 %) incluses dans les bureaux standard. Permis 1 % (eRegulations Yaoundé). Clôture : plafond de marché public de 210 526 FCFA/ml TTC (ARMP 2024, confiance faible), pris HT car la TVA est récupérable. Hors parking pavé, VRD, forage et raccordements : sur devis.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Prix relevés chez des revendeurs européens, surtout français (Boulanger, LDLC, Apple, HelloPro ; certains en Belgique, aux Pays-Bas, en Italie ou en Lettonie) : 2 Sony A7 IV, objectifs Sony 90 mm et 24-70 mm, 2 Profoto B10X, 2 Godox AD600 Pro II, Aputure LS 600d Pro, DJI RS 4, Mac Studio, 2 écrans BenQ, 14 MacBook Pro (postes de bureau), NAS Synology, UniFi, traceur Epson SC-T5700D (3 891 € HT), 2 NVR Hikvision, contrôle d'accès sur 8 portes, 30 fauteuils Steelcase Gesture, 20 bureaux, banque d'accueil, groupe électrogène 10-60 kVA. Les articles affichés TTC sont divisés par 1,20 ; ceux déjà HT sont gardés tels quels. Hors frais portuaires, transport Kribi → Yaoundé et caméras de surveillance (sur devis). Fret : CMA CGM Le Havre → Kribi, 40', 2 875 € (mars 2022, à actualiser) + surcharge de 85 € par EVP (2025). Droits : TEC CEMAC/CEEAC ; TCI 1 %, CCI 0,4 %, redevance informatique 1 %, OHADA 0,05 %. Classement tarifaire exact à confirmer par le transitaire.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Motos : annonces CoinAfrique Nanfan 150 (2024) 450 000-550 000 FCFA ; financement moyen Advans/Bee par moto avec papiers ≈ 639 000 FCFA (Journal du Cameroun, 2024) ; valeur retenue : milieu de 450 000 et 639 000. Hiace : annonce Douala d'un modèle 2011 à 12,5 M FCFA (CoinAfrique, kilométrage non renseigné). Hilux 2020 : 12,8-20,6 M FCFA (Afrotools, estimation). Carburant : infospratiques.cm ; coût d'importation : Cameroun24, octobre 2026. Assurances et entretien : sur devis (aucun tarif public).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Salaires bruts mensuels (milieu de fourchette sauf mention) : DG 1,0 M (bas de 1-5 M, start-up) ; responsable hub 350-800 k ; manutentionnaire 80-120 k ; magasinier 85-250 k ; livreur salarié 60-100 k ; chauffeur 60-150 k ; réceptionniste 70-120 k (aussi utilisé pour le SAV) ; commercial : secteur commerce et distribution 80-300 k (proxy) ; community manager 150-250 k ; graphiste 100-375 k (aussi utilisé pour le photographe, faute d'enquête) ; vidéaste 50-150 k (bas relevé au SMIG de 60 k) ; développeur 150-800 k ; analyste data 200-750 k ; comptable 150-500 k ; RH : salaire moyen formel de Yaoundé 160-250 k (proxy) ; entretien au SMIG de 60 000 FCFA. Charges : pension 4,2 % et prestations familiales 7 % sous plafond de 750 000 FCFA ; accidents du travail 2,5 % (groupe B, hypothèse) non plafonnés ; CFC 1,5 % ; FNE 1 %. Transport : 22 jours (bureau) ou 26 jours (hub et livraison). Gardiennage : 135 000-150 000 FCFA par agent (mercuriale 2020) × 4,2 équivalents temps plein pour un poste 24h/24.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 mensuel (FCFA) : salaires Yaoundé 8,92 M ; gardiennage 0,60 M ; électricité 0,59 M (6 000 kWh × 99 FCFA : tranche haute de la grille BT publiée, extrapolée au-delà de 1 000 kWh par prudence ; un raccordement moyenne tension pourrait être moins cher) ; internet 0,07 M ; Adobe 0,16 M ; carburant motos 0,57 M ; carburant utilitaire 0,17 M ; taxe foncière 0,03 M ; amortissements 3,33 M ; siège France 10,04 M. Non inclus (sur devis) : assurances, entretien, eau, hébergement web, CFE, marketing. À prévoir en trésorerie : TVA à l'import (récupérable) et précompte sur achats.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Calculs pour 100 FCFA de bénéfice : dividendes = 100 − IS 27,5 = 72,5 ; retenue 15 % (convention, 11 % pour une PME si éligible) ; en France, 5 % du dividende brut × 25 % = 0,9 → net 60,7 (63,6). Frais de siège = IS sur 97,5 (2,5 % déductibles) = 26,8 → frais 73,2 ; retenue 7,5 % si assistance technique documentée (15 % de TSR sinon) ; si le siège facture au coût, pas d'IS français mais la retenue est perdue → 67,7 ; si le siège est bénéficiaire, IS 25 % moins la retenue → 54,9. Le cas « siège au coût » est le plus favorable : il suppose une facturation à prix de pleine concurrence documentée, et les coûts d'actionnaire (levées de fonds, gouvernance) ne peuvent pas être refacturés. La filiale autoliquide aussi 19,25 % de TVA sur ces frais (déductible). Taux réduit français de 15 % : PME dont le capital est détenu à 75 % par des personnes physiques. Régime start-up camerounais : éligibilité d'une filiale de groupe étranger non vérifiée. À valider par un fiscaliste.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4 : chaque prix est d'abord un plancher (coût complet + marge + TVA), puis comparé aux prix observés sur le marché camerounais.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marge de 20 % est une décision de gestion (modifiable dans le classeur). Les prix de marché viennent de Cameroon Tribune (livraison), Kolonell (photo produit, panier moyen), Sabma Digital (studio photo à Yaoundé) et Kolonell/Jumia (commissions).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Hypothèses : 12 livraisons par jour (bas de la fourchette de 12 à 15 citée par un coursier, Cameroon Tribune), 26 jours, 10 km par livraison, consommation réelle de 2,72 L/100 km (haut de la fourchette Spritmonitor, usage urbain chargé), super à 840 FCFA/L. Coursier : salaire chargé 134 507 FCFA/mois. Moto amortie sur 3 ans. Manutention : équipe du hub (responsable, 4 agents, magasinier) + part du bâtiment selon son coût (32 %). Repère d'une flotte interne à Douala : 1 000-1 800 FCFA par livraison (Kolonell). Prix conseillé 2 500 FCFA : haut du marché, car assurance et entretien restent à chiffrer.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Coût mensuel du studio : équipe (photographe, vidéaste, ½ graphiste) 0,65 M ; part du bâtiment selon son coût (22,7 % du bâtiment) 0,26 M ; matériel importé amorti sur 3 ans 0,37 M ; électricité 0,15 M ; logiciels 0,16 M FCFA. Heures : 22 jours × 6 h × 70 % d'occupation. Cadences : 8 packshots ou 3 photos lifestyle par heure (hypothèses). Prix conseillé = le plus haut entre le repère de marché (bas de fourchette Kolonell) et le plancher arrondi à 5 000. Marché : Kolonell (packshot, lifestyle) ; Sabma Digital, Yaoundé (100 000 FCFA/h + 500 FCFA/photo).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Commission facturée au vendeur : 15 % HT du panier, plus 19,25 % de TVA (la LF 2020 soumet les commissions des plateformes à la TVA), soit 17,9 % TTC. Repère : take rate Jumia 12-22 % (Kolonell, Afrique de l'Ouest, base non précisée). Panier moyen : 18 500 FCFA (Kolonell, confiance faible). Frais : encaissement Orange Money 1-1,8 % (milieu 1,4 %) + taxe de l'État 0,2 %, sur le panier et la livraison payés par le client. Minimum de perception 2,2 % et patente 0,283 % (dès la 2e année) sur le CA HT de la filiale (commissions et livraisons), puisqu'elle encaisse pour le compte des vendeurs. Livraison : marge comptée au prix plancher (2 164 TTC), l'écart jusqu'à 2 500 FCFA étant réservé à l'assurance et à l'entretien. Abonnement : coût chargé d'un commercial ÷ 40 vendeurs + 20 % + TVA ; ses revenus ne sont pas comptés dans les seuils (prudent).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Seuil filiale seule = charges fixes Cameroun ÷ contribution nette par commande (2 633 FCFA à 15 %). Seuil groupe : la filiale paie au siège 10,85 M FCFA de frais par mois (siège au coût, retenue de 7,5 % perdue) ; ces frais ne sont déductibles qu'à 2,5 % du bénéfice, donc l'IS camerounais s'y ajoute. Avec la marge du Studio aux prix conseillés, le seuil groupe à 15 % passe à 8 602 commandes. Commission nécessaire pour le groupe : 16 % à 8 000 commandes, 13 % à 10 000. Les livreurs et l'équipe du hub augmentent avec le volume (coût inclus par colis). Sensibilité : si la retenue sur les frais de siège est de 15 % (TSR) au lieu de 7,5 %, le seuil groupe passe à 9 225 commandes. Provisions non incluses (assurances, entretien, marketing) : le seuil réel sera plus haut.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Investissement maison mère : immobilier 407,8 M + équipements importés 80,8 M + flotte 33,5 M FCFA. Chaque hub supplémentaire (terrain, bâtiment, clôture, hors équipements) : 109,6 M (S) à 174,4 M FCFA (M). Coûts de fonctionnement mensuels : 24,5 M FCFA, dont 9,1 M de charges fixes de la filiale à couvrir par les commissions, et 10,0 M pour le siège France. Contact : contact.alqavya@gmail.com · www.alqavya.com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73736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15468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ALQAVYA — Implantation, coûts réels et prix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ub visual" descr="hu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0" y="486918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Visuel généré par IA, non contractuel</a:t>
            </a:r>
            <a:endParaRPr lang="en-US" sz="900" dirty="0"/>
          </a:p>
        </p:txBody>
      </p:sp>
      <p:sp>
        <p:nvSpPr>
          <p:cNvPr id="4" name="Logo card"/>
          <p:cNvSpPr/>
          <p:nvPr/>
        </p:nvSpPr>
        <p:spPr>
          <a:xfrm>
            <a:off x="457200" y="45720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pic>
        <p:nvPicPr>
          <p:cNvPr id="5" name="Logo" descr="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48640"/>
            <a:ext cx="155448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874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Implantation, coûts réels et prix justifiés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108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Siège en France · Maison mère Afrique à Yaoundé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Hubs logistiques · Studio Premium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Octobre 2026 · Tous les prix sont sourcés ou calculés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Sommaire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Quatre parties : du projet aux prix, en passant par l'organisation et les coûts.</a:t>
            </a:r>
            <a:endParaRPr lang="en-US" sz="1400" dirty="0"/>
          </a:p>
        </p:txBody>
      </p:sp>
      <p:sp>
        <p:nvSpPr>
          <p:cNvPr id="4" name="Part 1"/>
          <p:cNvSpPr/>
          <p:nvPr/>
        </p:nvSpPr>
        <p:spPr>
          <a:xfrm>
            <a:off x="457200" y="137160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Part 1 circle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ar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572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projet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Le problème, la solution et les leviers terrain</a:t>
            </a:r>
            <a:endParaRPr lang="en-US" sz="1300" dirty="0"/>
          </a:p>
        </p:txBody>
      </p:sp>
      <p:sp>
        <p:nvSpPr>
          <p:cNvPr id="10" name="Part 2"/>
          <p:cNvSpPr/>
          <p:nvPr/>
        </p:nvSpPr>
        <p:spPr>
          <a:xfrm>
            <a:off x="2560320" y="137160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Part 2 circle"/>
          <p:cNvSpPr/>
          <p:nvPr/>
        </p:nvSpPr>
        <p:spPr>
          <a:xfrm>
            <a:off x="278892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Par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94760" y="1572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Deux maisons mères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France qui pilote, Yaoundé qui opère, des hubs qui livrent</a:t>
            </a:r>
            <a:endParaRPr lang="en-US" sz="1300" dirty="0"/>
          </a:p>
        </p:txBody>
      </p:sp>
      <p:sp>
        <p:nvSpPr>
          <p:cNvPr id="16" name="Part 3"/>
          <p:cNvSpPr/>
          <p:nvPr/>
        </p:nvSpPr>
        <p:spPr>
          <a:xfrm>
            <a:off x="4663440" y="137160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Part 3 circle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Par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97880" y="1572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 coûts réels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Terrain, construction, import, flotte, salaires, impôts</a:t>
            </a:r>
            <a:endParaRPr lang="en-US" sz="1300" dirty="0"/>
          </a:p>
        </p:txBody>
      </p:sp>
      <p:sp>
        <p:nvSpPr>
          <p:cNvPr id="22" name="Part 4"/>
          <p:cNvSpPr/>
          <p:nvPr/>
        </p:nvSpPr>
        <p:spPr>
          <a:xfrm>
            <a:off x="6766560" y="137160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Part 4 circle"/>
          <p:cNvSpPr/>
          <p:nvPr/>
        </p:nvSpPr>
        <p:spPr>
          <a:xfrm>
            <a:off x="69951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Par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7373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001000" y="1572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69951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Des prix justifiés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699516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Livraison, Studio Premium, commission, seuil de rentabilité</a:t>
            </a:r>
            <a:endParaRPr lang="en-US" sz="1300" dirty="0"/>
          </a:p>
        </p:txBody>
      </p:sp>
      <p:sp>
        <p:nvSpPr>
          <p:cNvPr id="28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Principe : aucun prix inventé. Chaque montant vient d'une source publiée ou d'un calcul à partir de ces 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Le commerce en ligne existe, la confiance manque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Au Cameroun, beaucoup de ventes passent par WhatsApp et les réseaux sociaux, sans garantie.</a:t>
            </a:r>
            <a:endParaRPr lang="en-US" sz="14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Problem 1 circle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Acheteurs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Doute sur le vendeur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Doute sur la qualité réelle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Peur de payer sans recevoir</a:t>
            </a:r>
            <a:endParaRPr lang="en-US" sz="1400" dirty="0"/>
          </a:p>
        </p:txBody>
      </p:sp>
      <p:sp>
        <p:nvSpPr>
          <p:cNvPr id="9" name="Problem card 2"/>
          <p:cNvSpPr/>
          <p:nvPr/>
        </p:nvSpPr>
        <p:spPr>
          <a:xfrm>
            <a:off x="326898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Problem 2 circle"/>
          <p:cNvSpPr/>
          <p:nvPr/>
        </p:nvSpPr>
        <p:spPr>
          <a:xfrm>
            <a:off x="349758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833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Vendeurs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2331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Audience limitée à leur cercle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Photos et fiches amateurs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Commandes gérées à la main</a:t>
            </a:r>
            <a:endParaRPr lang="en-US" sz="1400" dirty="0"/>
          </a:p>
        </p:txBody>
      </p:sp>
      <p:sp>
        <p:nvSpPr>
          <p:cNvPr id="14" name="Problem card 3"/>
          <p:cNvSpPr/>
          <p:nvPr/>
        </p:nvSpPr>
        <p:spPr>
          <a:xfrm>
            <a:off x="608076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Problem 3 circle"/>
          <p:cNvSpPr/>
          <p:nvPr/>
        </p:nvSpPr>
        <p:spPr>
          <a:xfrm>
            <a:off x="63093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Logistique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331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Aucun point relais standard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Dernier kilomètre coûteux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Retours et litiges ingérables</a:t>
            </a:r>
            <a:endParaRPr lang="en-US" sz="1400" dirty="0"/>
          </a:p>
        </p:txBody>
      </p:sp>
      <p:sp>
        <p:nvSpPr>
          <p:cNvPr id="19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Ce qui manque n'est pas un site de plus : c'est une couche de confiance et d'organisation.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ALQAVYA : une plateforme de confiance et deux leviers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 socle numérique rassure ; les hubs et le Studio Premium rendent la promesse réelle.</a:t>
            </a:r>
            <a:endParaRPr lang="en-US" sz="1400" dirty="0"/>
          </a:p>
        </p:txBody>
      </p:sp>
      <p:sp>
        <p:nvSpPr>
          <p:cNvPr id="4" name="Lever 1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Lever 1 circl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Leve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361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Hubs &amp; logistique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Réception, contrôle qualité, stock, préparation, livraison, retours : chaque colis est vérifié et tracé.</a:t>
            </a:r>
            <a:endParaRPr lang="en-US" sz="1300" dirty="0"/>
          </a:p>
        </p:txBody>
      </p:sp>
      <p:sp>
        <p:nvSpPr>
          <p:cNvPr id="9" name="Lever 2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Lever 2 circl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Leve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7602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5361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Studio Premium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Photos pro, fiches produits, branding et vidéos courtes : le vendeur vend mieux, la plateforme convertit plus.</a:t>
            </a:r>
            <a:endParaRPr lang="en-US" sz="1300" dirty="0"/>
          </a:p>
        </p:txBody>
      </p:sp>
      <p:sp>
        <p:nvSpPr>
          <p:cNvPr id="14" name="Foundation"/>
          <p:cNvSpPr/>
          <p:nvPr/>
        </p:nvSpPr>
        <p:spPr>
          <a:xfrm>
            <a:off x="457200" y="30632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SOCLE — LA PLATEFORME</a:t>
            </a:r>
            <a:endParaRPr lang="en-US" sz="1100" dirty="0"/>
          </a:p>
        </p:txBody>
      </p:sp>
      <p:sp>
        <p:nvSpPr>
          <p:cNvPr id="16" name="Chip 1"/>
          <p:cNvSpPr/>
          <p:nvPr/>
        </p:nvSpPr>
        <p:spPr>
          <a:xfrm>
            <a:off x="685800" y="3493008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493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Vendeurs vérifiés</a:t>
            </a:r>
            <a:endParaRPr lang="en-US" sz="1300" dirty="0"/>
          </a:p>
        </p:txBody>
      </p:sp>
      <p:sp>
        <p:nvSpPr>
          <p:cNvPr id="18" name="Chip 2"/>
          <p:cNvSpPr/>
          <p:nvPr/>
        </p:nvSpPr>
        <p:spPr>
          <a:xfrm>
            <a:off x="2651760" y="3493008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651760" y="3493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Paiement sécurisé</a:t>
            </a:r>
            <a:endParaRPr lang="en-US" sz="1300" dirty="0"/>
          </a:p>
        </p:txBody>
      </p:sp>
      <p:sp>
        <p:nvSpPr>
          <p:cNvPr id="20" name="Chip 3"/>
          <p:cNvSpPr/>
          <p:nvPr/>
        </p:nvSpPr>
        <p:spPr>
          <a:xfrm>
            <a:off x="4617720" y="3493008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17720" y="3493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Suivi de commande</a:t>
            </a:r>
            <a:endParaRPr lang="en-US" sz="1300" dirty="0"/>
          </a:p>
        </p:txBody>
      </p:sp>
      <p:sp>
        <p:nvSpPr>
          <p:cNvPr id="22" name="Chip 4"/>
          <p:cNvSpPr/>
          <p:nvPr/>
        </p:nvSpPr>
        <p:spPr>
          <a:xfrm>
            <a:off x="6583680" y="3493008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583680" y="3493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Avis clients</a:t>
            </a:r>
            <a:endParaRPr lang="en-US" sz="1300" dirty="0"/>
          </a:p>
        </p:txBody>
      </p:sp>
      <p:sp>
        <p:nvSpPr>
          <p:cNvPr id="24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Ces leviers répondent aux mêmes freins dans la plupart des pays : le modèle est réplicable.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vider visual" descr="offi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Visuel généré par IA, non contractuel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PARTIE 2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17373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Une organisation à deux maisons mères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3154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La France pilote, Yaoundé opère, les hubs livrent.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Une SAS en France, une filiale au Cameroun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Chaque entité paie ses impôts là où elle opère ; la convention de 1976 plafonne les retenues.</a:t>
            </a:r>
            <a:endParaRPr lang="en-US" sz="1400" dirty="0"/>
          </a:p>
        </p:txBody>
      </p:sp>
      <p:sp>
        <p:nvSpPr>
          <p:cNvPr id="4" name="France entity"/>
          <p:cNvSpPr/>
          <p:nvPr/>
        </p:nvSpPr>
        <p:spPr>
          <a:xfrm>
            <a:off x="457200" y="1371600"/>
            <a:ext cx="3291840" cy="1965960"/>
          </a:xfrm>
          <a:prstGeom prst="roundRect">
            <a:avLst>
              <a:gd name="adj" fmla="val 3721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FR circle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F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27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ALQAVYA SAS — France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Siège du groupe et maison mère de pilotage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Levées de fonds, finance, contrôle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Achats en Europe du matériel haut standing</a:t>
            </a:r>
            <a:endParaRPr lang="en-US" sz="1300" dirty="0"/>
          </a:p>
        </p:txBody>
      </p:sp>
      <p:sp>
        <p:nvSpPr>
          <p:cNvPr id="9" name="Cameroon entity"/>
          <p:cNvSpPr/>
          <p:nvPr/>
        </p:nvSpPr>
        <p:spPr>
          <a:xfrm>
            <a:off x="5394960" y="1371600"/>
            <a:ext cx="3291840" cy="1965960"/>
          </a:xfrm>
          <a:prstGeom prst="roundRect">
            <a:avLst>
              <a:gd name="adj" fmla="val 3721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CM circle"/>
          <p:cNvSpPr/>
          <p:nvPr/>
        </p:nvSpPr>
        <p:spPr>
          <a:xfrm>
            <a:off x="557784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CM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16344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72200" y="1527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ALQAVYA Cameroun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103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Filiale locale (SARL ou SA OHADA)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Maison mère Afrique : hub, studio, équipes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Encaisse pour le compte des vendeurs ; TVA sur ses commissions</a:t>
            </a:r>
            <a:endParaRPr lang="en-US" sz="1300" dirty="0"/>
          </a:p>
        </p:txBody>
      </p:sp>
      <p:sp>
        <p:nvSpPr>
          <p:cNvPr id="14" name="Arrow down"/>
          <p:cNvSpPr/>
          <p:nvPr/>
        </p:nvSpPr>
        <p:spPr>
          <a:xfrm>
            <a:off x="3840480" y="1965960"/>
            <a:ext cx="1463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37947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Capital, pilotage, achats</a:t>
            </a:r>
            <a:endParaRPr lang="en-US" sz="1100" dirty="0"/>
          </a:p>
        </p:txBody>
      </p:sp>
      <p:sp>
        <p:nvSpPr>
          <p:cNvPr id="16" name="Arrow up"/>
          <p:cNvSpPr/>
          <p:nvPr/>
        </p:nvSpPr>
        <p:spPr>
          <a:xfrm>
            <a:off x="3840480" y="2697480"/>
            <a:ext cx="1463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7" name="Text 13"/>
          <p:cNvSpPr txBox="1"/>
          <p:nvPr/>
        </p:nvSpPr>
        <p:spPr>
          <a:xfrm>
            <a:off x="3794760" y="2761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Frais de siège ou dividendes</a:t>
            </a:r>
            <a:endParaRPr lang="en-US" sz="1100" dirty="0"/>
          </a:p>
        </p:txBody>
      </p:sp>
      <p:sp>
        <p:nvSpPr>
          <p:cNvPr id="18" name="Fact 1"/>
          <p:cNvSpPr/>
          <p:nvPr/>
        </p:nvSpPr>
        <p:spPr>
          <a:xfrm>
            <a:off x="457200" y="3493008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Payé au Cameroun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37856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IS 27,5 % · TVA 19,25 % · minimum 2,2 % du CA · patente</a:t>
            </a:r>
            <a:endParaRPr lang="en-US" sz="1100" dirty="0"/>
          </a:p>
        </p:txBody>
      </p:sp>
      <p:sp>
        <p:nvSpPr>
          <p:cNvPr id="21" name="Fact 2"/>
          <p:cNvSpPr/>
          <p:nvPr/>
        </p:nvSpPr>
        <p:spPr>
          <a:xfrm>
            <a:off x="3246120" y="3493008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8328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Payé en France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383280" y="37856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IS 15 % jusqu'à 42 500 € (PME), puis 25 % · CFE</a:t>
            </a:r>
            <a:endParaRPr lang="en-US" sz="1100" dirty="0"/>
          </a:p>
        </p:txBody>
      </p:sp>
      <p:sp>
        <p:nvSpPr>
          <p:cNvPr id="24" name="Fact 3"/>
          <p:cNvSpPr/>
          <p:nvPr/>
        </p:nvSpPr>
        <p:spPr>
          <a:xfrm>
            <a:off x="6035040" y="3493008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7220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Pourquoi une filiale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172200" y="37856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Hubs, terrains et salariés imposent une entité locale ; vendre depuis la France serait taxé ≈ 3,3 % du 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Une chaîne de pilotage claire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Une seule maison mère par ville ; chaque niveau supervise le suivant.</a:t>
            </a:r>
            <a:endParaRPr lang="en-US" sz="1400" dirty="0"/>
          </a:p>
        </p:txBody>
      </p:sp>
      <p:sp>
        <p:nvSpPr>
          <p:cNvPr id="4" name="Node FR"/>
          <p:cNvSpPr/>
          <p:nvPr/>
        </p:nvSpPr>
        <p:spPr>
          <a:xfrm>
            <a:off x="1828800" y="1325880"/>
            <a:ext cx="292608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1399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Maison mère France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09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Pilote la maison mère d'Afrique et, par elle, les hubs</a:t>
            </a:r>
            <a:endParaRPr lang="en-US" sz="1100" dirty="0"/>
          </a:p>
        </p:txBody>
      </p:sp>
      <p:sp>
        <p:nvSpPr>
          <p:cNvPr id="7" name="Node YDE"/>
          <p:cNvSpPr/>
          <p:nvPr/>
        </p:nvSpPr>
        <p:spPr>
          <a:xfrm>
            <a:off x="1828800" y="2331720"/>
            <a:ext cx="292608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Maison mère Afrique · Yaoundé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Supervise tous les hubs situés en Afrique</a:t>
            </a:r>
            <a:endParaRPr lang="en-US" sz="1100" dirty="0"/>
          </a:p>
        </p:txBody>
      </p:sp>
      <p:sp>
        <p:nvSpPr>
          <p:cNvPr id="10" name="Hub node 1"/>
          <p:cNvSpPr/>
          <p:nvPr/>
        </p:nvSpPr>
        <p:spPr>
          <a:xfrm>
            <a:off x="457200" y="33375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Hub Douala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type M, studio compact</a:t>
            </a:r>
            <a:endParaRPr lang="en-US" sz="1100" dirty="0"/>
          </a:p>
        </p:txBody>
      </p:sp>
      <p:sp>
        <p:nvSpPr>
          <p:cNvPr id="13" name="Hub node 2"/>
          <p:cNvSpPr/>
          <p:nvPr/>
        </p:nvSpPr>
        <p:spPr>
          <a:xfrm>
            <a:off x="2331720" y="33375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Hub ville moyenne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type S, sans studio</a:t>
            </a:r>
            <a:endParaRPr lang="en-US" sz="1100" dirty="0"/>
          </a:p>
        </p:txBody>
      </p:sp>
      <p:sp>
        <p:nvSpPr>
          <p:cNvPr id="16" name="Hub node 3"/>
          <p:cNvSpPr/>
          <p:nvPr/>
        </p:nvSpPr>
        <p:spPr>
          <a:xfrm>
            <a:off x="4206240" y="33375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Futurs hubs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autres villes et pays</a:t>
            </a:r>
            <a:endParaRPr lang="en-US" sz="1100" dirty="0"/>
          </a:p>
        </p:txBody>
      </p:sp>
      <p:sp>
        <p:nvSpPr>
          <p:cNvPr id="19" name="Link 1"/>
          <p:cNvSpPr/>
          <p:nvPr/>
        </p:nvSpPr>
        <p:spPr>
          <a:xfrm>
            <a:off x="3291840" y="2103120"/>
            <a:ext cx="0" cy="228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0" name="Link 2"/>
          <p:cNvSpPr/>
          <p:nvPr/>
        </p:nvSpPr>
        <p:spPr>
          <a:xfrm>
            <a:off x="3291840" y="3108960"/>
            <a:ext cx="0" cy="10972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1" name="Link bar"/>
          <p:cNvSpPr/>
          <p:nvPr/>
        </p:nvSpPr>
        <p:spPr>
          <a:xfrm>
            <a:off x="1325880" y="3218688"/>
            <a:ext cx="37490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2" name="Link hub 0"/>
          <p:cNvSpPr/>
          <p:nvPr/>
        </p:nvSpPr>
        <p:spPr>
          <a:xfrm>
            <a:off x="1325880" y="3218688"/>
            <a:ext cx="0" cy="11887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Link hub 1"/>
          <p:cNvSpPr/>
          <p:nvPr/>
        </p:nvSpPr>
        <p:spPr>
          <a:xfrm>
            <a:off x="3200400" y="3218688"/>
            <a:ext cx="0" cy="11887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4" name="Link hub 2"/>
          <p:cNvSpPr/>
          <p:nvPr/>
        </p:nvSpPr>
        <p:spPr>
          <a:xfrm>
            <a:off x="5074920" y="3218688"/>
            <a:ext cx="0" cy="11887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5" name="Rules"/>
          <p:cNvSpPr/>
          <p:nvPr/>
        </p:nvSpPr>
        <p:spPr>
          <a:xfrm>
            <a:off x="6172200" y="132588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RÈGLES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17830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Une ville = une seule maison mère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Yaoundé est la seule maison mère d'Afrique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Chaque hub a son gestionnaire, son stock et ses sanitaires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 studio dans un hub seulement si la ville est grande</a:t>
            </a:r>
            <a:endParaRPr lang="en-US" sz="1200" dirty="0"/>
          </a:p>
        </p:txBody>
      </p:sp>
      <p:sp>
        <p:nvSpPr>
          <p:cNvPr id="28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Le modèle se réplique hub par hub, avec les mêmes procédures et les mêmes indicateurs.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Maison mère de Yaoundé : le programme des espaces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1 403 m² de plancher sur un terrain de 2 500 m² à Mvan / Nsam (corridor logistique).</a:t>
            </a:r>
            <a:endParaRPr lang="en-US" sz="1400" dirty="0"/>
          </a:p>
        </p:txBody>
      </p:sp>
      <p:sp>
        <p:nvSpPr>
          <p:cNvPr id="4" name="Space 1"/>
          <p:cNvSpPr/>
          <p:nvPr/>
        </p:nvSpPr>
        <p:spPr>
          <a:xfrm>
            <a:off x="457200" y="13258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80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120 m²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733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Réception &amp; contrôle des produits</a:t>
            </a:r>
            <a:endParaRPr lang="en-US" sz="1100" dirty="0"/>
          </a:p>
        </p:txBody>
      </p:sp>
      <p:sp>
        <p:nvSpPr>
          <p:cNvPr id="7" name="Space 2"/>
          <p:cNvSpPr/>
          <p:nvPr/>
        </p:nvSpPr>
        <p:spPr>
          <a:xfrm>
            <a:off x="2542032" y="13258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380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400 m²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6733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Stockage</a:t>
            </a:r>
            <a:endParaRPr lang="en-US" sz="1100" dirty="0"/>
          </a:p>
        </p:txBody>
      </p:sp>
      <p:sp>
        <p:nvSpPr>
          <p:cNvPr id="10" name="Space 3"/>
          <p:cNvSpPr/>
          <p:nvPr/>
        </p:nvSpPr>
        <p:spPr>
          <a:xfrm>
            <a:off x="4626864" y="13258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1380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150 m²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6733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Studio Premium</a:t>
            </a:r>
            <a:endParaRPr lang="en-US" sz="1100" dirty="0"/>
          </a:p>
        </p:txBody>
      </p:sp>
      <p:sp>
        <p:nvSpPr>
          <p:cNvPr id="13" name="Space 4"/>
          <p:cNvSpPr/>
          <p:nvPr/>
        </p:nvSpPr>
        <p:spPr>
          <a:xfrm>
            <a:off x="6711696" y="13258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21424" y="1380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60 m²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16733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Pôle informatique</a:t>
            </a:r>
            <a:endParaRPr lang="en-US" sz="1100" dirty="0"/>
          </a:p>
        </p:txBody>
      </p:sp>
      <p:sp>
        <p:nvSpPr>
          <p:cNvPr id="16" name="Space 5"/>
          <p:cNvSpPr/>
          <p:nvPr/>
        </p:nvSpPr>
        <p:spPr>
          <a:xfrm>
            <a:off x="457200" y="22402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 m²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5877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Salle de tracking des produits gagnants</a:t>
            </a:r>
            <a:endParaRPr lang="en-US" sz="1100" dirty="0"/>
          </a:p>
        </p:txBody>
      </p:sp>
      <p:sp>
        <p:nvSpPr>
          <p:cNvPr id="19" name="Space 6"/>
          <p:cNvSpPr/>
          <p:nvPr/>
        </p:nvSpPr>
        <p:spPr>
          <a:xfrm>
            <a:off x="2542032" y="22402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160 m²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25877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Bureaux des équipes</a:t>
            </a:r>
            <a:endParaRPr lang="en-US" sz="1100" dirty="0"/>
          </a:p>
        </p:txBody>
      </p:sp>
      <p:sp>
        <p:nvSpPr>
          <p:cNvPr id="22" name="Space 7"/>
          <p:cNvSpPr/>
          <p:nvPr/>
        </p:nvSpPr>
        <p:spPr>
          <a:xfrm>
            <a:off x="4626864" y="22402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592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70 m²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736592" y="25877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Salle de formation (Academy)</a:t>
            </a:r>
            <a:endParaRPr lang="en-US" sz="1100" dirty="0"/>
          </a:p>
        </p:txBody>
      </p:sp>
      <p:sp>
        <p:nvSpPr>
          <p:cNvPr id="25" name="Space 8"/>
          <p:cNvSpPr/>
          <p:nvPr/>
        </p:nvSpPr>
        <p:spPr>
          <a:xfrm>
            <a:off x="6711696" y="22402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21424" y="2295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 m²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21424" y="25877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Atelier d'impression des affiches</a:t>
            </a:r>
            <a:endParaRPr lang="en-US" sz="1100" dirty="0"/>
          </a:p>
        </p:txBody>
      </p:sp>
      <p:sp>
        <p:nvSpPr>
          <p:cNvPr id="28" name="Space 9"/>
          <p:cNvSpPr/>
          <p:nvPr/>
        </p:nvSpPr>
        <p:spPr>
          <a:xfrm>
            <a:off x="457200" y="31546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209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50 m²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5021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Salles de réunion (x2)</a:t>
            </a:r>
            <a:endParaRPr lang="en-US" sz="1100" dirty="0"/>
          </a:p>
        </p:txBody>
      </p:sp>
      <p:sp>
        <p:nvSpPr>
          <p:cNvPr id="31" name="Space 10"/>
          <p:cNvSpPr/>
          <p:nvPr/>
        </p:nvSpPr>
        <p:spPr>
          <a:xfrm>
            <a:off x="2542032" y="31546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51760" y="3209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70 m²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35021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Bureaux des membres clés (x4)</a:t>
            </a:r>
            <a:endParaRPr lang="en-US" sz="1100" dirty="0"/>
          </a:p>
        </p:txBody>
      </p:sp>
      <p:sp>
        <p:nvSpPr>
          <p:cNvPr id="34" name="Space 11"/>
          <p:cNvSpPr/>
          <p:nvPr/>
        </p:nvSpPr>
        <p:spPr>
          <a:xfrm>
            <a:off x="4626864" y="31546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36592" y="3209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60 m²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736592" y="35021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Sanitaires, vestiaires, pause</a:t>
            </a:r>
            <a:endParaRPr lang="en-US" sz="1100" dirty="0"/>
          </a:p>
        </p:txBody>
      </p:sp>
      <p:sp>
        <p:nvSpPr>
          <p:cNvPr id="37" name="Space 12"/>
          <p:cNvSpPr/>
          <p:nvPr/>
        </p:nvSpPr>
        <p:spPr>
          <a:xfrm>
            <a:off x="6711696" y="3154680"/>
            <a:ext cx="1947672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21424" y="3209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Extérieur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21424" y="35021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Parkings séparés (personnel et flotte / visiteurs)</a:t>
            </a:r>
            <a:endParaRPr lang="en-US" sz="1100" dirty="0"/>
          </a:p>
        </p:txBody>
      </p:sp>
      <p:sp>
        <p:nvSpPr>
          <p:cNvPr id="40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Or = haut standing (studio, réunions, direction). + 183 m² de circulations et locaux techniques (15 %).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Maison mère France : réduite, mais elle pilote tout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 plateau de 60 m² et trois postes pour la finance, les achats en Europe et la direction.</a:t>
            </a:r>
            <a:endParaRPr lang="en-US" sz="1400" dirty="0"/>
          </a:p>
        </p:txBody>
      </p:sp>
      <p:pic>
        <p:nvPicPr>
          <p:cNvPr id="4" name="Office visual" descr="offi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017520" cy="269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947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Visuel généré par IA, non contractuel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7490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ESPACES</a:t>
            </a:r>
            <a:endParaRPr lang="en-US" sz="1100" dirty="0"/>
          </a:p>
        </p:txBody>
      </p:sp>
      <p:sp>
        <p:nvSpPr>
          <p:cNvPr id="7" name="FR space 1"/>
          <p:cNvSpPr/>
          <p:nvPr/>
        </p:nvSpPr>
        <p:spPr>
          <a:xfrm>
            <a:off x="3749040" y="1691640"/>
            <a:ext cx="233172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4904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Bureau du président</a:t>
            </a:r>
            <a:endParaRPr lang="en-US" sz="1200" dirty="0"/>
          </a:p>
        </p:txBody>
      </p:sp>
      <p:sp>
        <p:nvSpPr>
          <p:cNvPr id="9" name="FR space 2"/>
          <p:cNvSpPr/>
          <p:nvPr/>
        </p:nvSpPr>
        <p:spPr>
          <a:xfrm>
            <a:off x="6217920" y="1691640"/>
            <a:ext cx="233172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Pôle finance et contrôle</a:t>
            </a:r>
            <a:endParaRPr lang="en-US" sz="1200" dirty="0"/>
          </a:p>
        </p:txBody>
      </p:sp>
      <p:sp>
        <p:nvSpPr>
          <p:cNvPr id="11" name="FR space 3"/>
          <p:cNvSpPr/>
          <p:nvPr/>
        </p:nvSpPr>
        <p:spPr>
          <a:xfrm>
            <a:off x="3749040" y="2194560"/>
            <a:ext cx="233172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4904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Pôle achats et import</a:t>
            </a:r>
            <a:endParaRPr lang="en-US" sz="1200" dirty="0"/>
          </a:p>
        </p:txBody>
      </p:sp>
      <p:sp>
        <p:nvSpPr>
          <p:cNvPr id="13" name="FR space 4"/>
          <p:cNvSpPr/>
          <p:nvPr/>
        </p:nvSpPr>
        <p:spPr>
          <a:xfrm>
            <a:off x="6217920" y="2194560"/>
            <a:ext cx="233172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Salle de réunion / visio Afrique</a:t>
            </a:r>
            <a:endParaRPr lang="en-US" sz="1200" dirty="0"/>
          </a:p>
        </p:txBody>
      </p:sp>
      <p:graphicFrame>
        <p:nvGraphicFramePr>
          <p:cNvPr id="10" name="FR sta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2788920"/>
          <a:ext cx="4937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5544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Poste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Brut annuel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Coût chargé (+ 45 %)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Président-fondateur (SMIC)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22 404 €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32 486 €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Contrôleur de gestion groupe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49 500 €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71 775 €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Coordinateur achats &amp; import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40 000 €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58 000 €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6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Coût du siège France : 15 304 € par mois (≈ 10,0 M FCFA), loyer et services compris.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Hubs classiques : deux formats selon la taille de la ville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Stock, bureau du gestionnaire, accueil-retrait et sanitaires partout ; un studio seulement en grande ville.</a:t>
            </a:r>
            <a:endParaRPr lang="en-US" sz="1400" dirty="0"/>
          </a:p>
        </p:txBody>
      </p:sp>
      <p:sp>
        <p:nvSpPr>
          <p:cNvPr id="4" name="Hub S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Hub S — ville moyenne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Stockage : 250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Bureau gestionnaire : 15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Accueil-retrait : 25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Sanitaires : 15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Sans studio (shootings à Yaoundé)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109,6 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FCFA : terrain, bâtiment et clôture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351 m² de plancher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terrain de 600 m²</a:t>
            </a:r>
            <a:endParaRPr lang="en-US" sz="1100" dirty="0"/>
          </a:p>
        </p:txBody>
      </p:sp>
      <p:sp>
        <p:nvSpPr>
          <p:cNvPr id="10" name="Hub M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Hub M — grande ville (ex. Douala)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20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Stockage : 350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Bureau gestionnaire : 15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Accueil-retrait : 30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Sanitaires : 20 m²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Studio compact : 40 m²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174,4 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FCFA : terrain, bâtiment et clôture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517 m² de plancher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terrain de 1 000 m²</a:t>
            </a:r>
            <a:endParaRPr lang="en-US" sz="1100" dirty="0"/>
          </a:p>
        </p:txBody>
      </p:sp>
      <p:sp>
        <p:nvSpPr>
          <p:cNvPr id="16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Équipements et véhicules des hubs : à chiffrer. Terrain au prix de Douala, même pour les villes moyennes.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vider visual" descr="hu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Visuel généré par IA, non contractuel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PARTIE 3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17373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Ce que coûte vraiment l'implantation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3154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Terrain, construction, matériel importé, flotte, salaires et impôts, en France et au Cameroun.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Méthode : des chiffres sourcés, des hypothèses visibles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Les prix viennent de sources publiées ; les choix de dimensionnement sont affichés et modifiables.</a:t>
            </a:r>
            <a:endParaRPr lang="en-US" sz="1400" dirty="0"/>
          </a:p>
        </p:txBody>
      </p:sp>
      <p:sp>
        <p:nvSpPr>
          <p:cNvPr id="4" name="Rule 1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Rule 1 circle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R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256 données sourcées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38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Lois de finances, DGI, CNPS, annonces, revendeurs, presse</a:t>
            </a:r>
            <a:endParaRPr lang="en-US" sz="1300" dirty="0"/>
          </a:p>
        </p:txBody>
      </p:sp>
      <p:sp>
        <p:nvSpPr>
          <p:cNvPr id="9" name="Rule 2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Rule 2 circl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R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Milieu de fourchette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938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Sauf si la source dit mieux : carburant et électricité au haut, DG au bas</a:t>
            </a:r>
            <a:endParaRPr lang="en-US" sz="1300" dirty="0"/>
          </a:p>
        </p:txBody>
      </p:sp>
      <p:sp>
        <p:nvSpPr>
          <p:cNvPr id="14" name="Rule 3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Rule 3 circle"/>
          <p:cNvSpPr/>
          <p:nvPr/>
        </p:nvSpPr>
        <p:spPr>
          <a:xfrm>
            <a:off x="685800" y="3017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R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177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Parité fixe, prix HT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1 € = 655,957 FCFA ; matériel détaxé à l'export ; TVA récupérée</a:t>
            </a:r>
            <a:endParaRPr lang="en-US" sz="1300" dirty="0"/>
          </a:p>
        </p:txBody>
      </p:sp>
      <p:sp>
        <p:nvSpPr>
          <p:cNvPr id="19" name="Rule 4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Rule 4 circle"/>
          <p:cNvSpPr/>
          <p:nvPr/>
        </p:nvSpPr>
        <p:spPr>
          <a:xfrm>
            <a:off x="4892040" y="3017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Ru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1775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Provisions à part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Assurances, entretien, marketing, caméras, VRD, transport : sur devis</a:t>
            </a:r>
            <a:endParaRPr lang="en-US" sz="1300" dirty="0"/>
          </a:p>
        </p:txBody>
      </p:sp>
      <p:sp>
        <p:nvSpPr>
          <p:cNvPr id="24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Tout est recalculable : le classeur Excel joint contient 469 formules et la liste complète des 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Maison mère de Yaoundé : l'investissement immobilier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407,8 M FCFA HT (≈ 622 000 €), fourchette 317 M à 499 M selon les prix bas ou hauts.</a:t>
            </a:r>
            <a:endParaRPr lang="en-US" sz="1400" dirty="0"/>
          </a:p>
        </p:txBody>
      </p:sp>
      <p:graphicFrame>
        <p:nvGraphicFramePr>
          <p:cNvPr id="14" name="Real estat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Poste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Base de calcul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 FCFA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Terrain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2 500 m² × 37 500 FCFA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93,8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Droits et conservation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5 % + 2 % du prix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6,6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Notaire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barème par tranches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1,0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Entrepôt et réception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520 m² × 150 000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78,0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Bureaux, espaces standard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613 m² × 150 000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92,0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Studio, réunions, direction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270 m² × 365 000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98,6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Permis de bâtir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1 % des travaux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2,7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Mur de clôture (HT)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200 ml × 176 542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35,3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chiffres arrondis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407,8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Real estate chart" descr=""/>
          <p:cNvGraphicFramePr/>
          <p:nvPr/>
        </p:nvGraphicFramePr>
        <p:xfrm>
          <a:off x="5760720" y="1325880"/>
          <a:ext cx="2926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 FCFA HT</a:t>
            </a:r>
            <a:endParaRPr lang="en-US" sz="1100" dirty="0"/>
          </a:p>
        </p:txBody>
      </p:sp>
      <p:sp>
        <p:nvSpPr>
          <p:cNvPr id="7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Le haut standing (270 m²) coûte plus que l'entrepôt (520 m²) : c'est le prix du studio premium.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Matériel haut standing acheté en Europe, rendu au Cameroun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Prix de revendeurs européens, détaxés à l'export, plus le fret et la douane camerounaise.</a:t>
            </a:r>
            <a:endParaRPr lang="en-US" sz="1400" dirty="0"/>
          </a:p>
        </p:txBody>
      </p:sp>
      <p:sp>
        <p:nvSpPr>
          <p:cNvPr id="4" name="Import step 1"/>
          <p:cNvSpPr/>
          <p:nvPr/>
        </p:nvSpPr>
        <p:spPr>
          <a:xfrm>
            <a:off x="457200" y="1371600"/>
            <a:ext cx="1517904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80,8 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5623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Prix catalogue TTC</a:t>
            </a:r>
            <a:endParaRPr lang="en-US" sz="1200" dirty="0"/>
          </a:p>
        </p:txBody>
      </p:sp>
      <p:sp>
        <p:nvSpPr>
          <p:cNvPr id="7" name="Import step 2"/>
          <p:cNvSpPr/>
          <p:nvPr/>
        </p:nvSpPr>
        <p:spPr>
          <a:xfrm>
            <a:off x="2139696" y="1371600"/>
            <a:ext cx="1517904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4447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67,3 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85416" y="185623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HT export (÷ 1,20)</a:t>
            </a:r>
            <a:endParaRPr lang="en-US" sz="1200" dirty="0"/>
          </a:p>
        </p:txBody>
      </p:sp>
      <p:sp>
        <p:nvSpPr>
          <p:cNvPr id="10" name="Import step 3"/>
          <p:cNvSpPr/>
          <p:nvPr/>
        </p:nvSpPr>
        <p:spPr>
          <a:xfrm>
            <a:off x="3822192" y="1371600"/>
            <a:ext cx="1517904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4447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2,0 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185623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+ fret 40'</a:t>
            </a:r>
            <a:endParaRPr lang="en-US" sz="1200" dirty="0"/>
          </a:p>
        </p:txBody>
      </p:sp>
      <p:sp>
        <p:nvSpPr>
          <p:cNvPr id="13" name="Import step 4"/>
          <p:cNvSpPr/>
          <p:nvPr/>
        </p:nvSpPr>
        <p:spPr>
          <a:xfrm>
            <a:off x="5504688" y="1371600"/>
            <a:ext cx="1517904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14447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11,5 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50408" y="185623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+ droits et taxes</a:t>
            </a:r>
            <a:endParaRPr lang="en-US" sz="1200" dirty="0"/>
          </a:p>
        </p:txBody>
      </p:sp>
      <p:sp>
        <p:nvSpPr>
          <p:cNvPr id="16" name="Import step 5"/>
          <p:cNvSpPr/>
          <p:nvPr/>
        </p:nvSpPr>
        <p:spPr>
          <a:xfrm>
            <a:off x="7187184" y="1371600"/>
            <a:ext cx="1517904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14447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80,8 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32904" y="185623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Rendu port de Kribi</a:t>
            </a:r>
            <a:endParaRPr lang="en-US" sz="1200" dirty="0"/>
          </a:p>
        </p:txBody>
      </p:sp>
      <p:graphicFrame>
        <p:nvGraphicFramePr>
          <p:cNvPr id="19" name="Import chart" descr=""/>
          <p:cNvGraphicFramePr/>
          <p:nvPr/>
        </p:nvGraphicFramePr>
        <p:xfrm>
          <a:off x="457200" y="2395728"/>
          <a:ext cx="49377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39593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 FCFA, coût rendu par groupe</a:t>
            </a:r>
            <a:endParaRPr lang="en-US" sz="1100" dirty="0"/>
          </a:p>
        </p:txBody>
      </p:sp>
      <p:sp>
        <p:nvSpPr>
          <p:cNvPr id="21" name="Duty box"/>
          <p:cNvSpPr/>
          <p:nvPr/>
        </p:nvSpPr>
        <p:spPr>
          <a:xfrm>
            <a:off x="5577840" y="2468880"/>
            <a:ext cx="310896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DOUANE CAMEROUNAISE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281635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Douane : 10 % informatique (photo, sécurité, énergie au même taux, à confirmer), 20 % mobilier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Autres prélèvements : 2,45 %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TVA à l'import 15,6 M : récupérable</a:t>
            </a:r>
            <a:endParaRPr lang="en-US" sz="1100" dirty="0"/>
          </a:p>
        </p:txBody>
      </p:sp>
      <p:sp>
        <p:nvSpPr>
          <p:cNvPr id="24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La détaxe compense fret et douane : 80,8 M FCFA rendus à Kribi, hors transport jusqu'à Yaoundé.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Flotte de livraison et de service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Véhicules achetés au Cameroun : les droits de douane sont déjà payés dans le prix local.</a:t>
            </a:r>
            <a:endParaRPr lang="en-US" sz="1400" dirty="0"/>
          </a:p>
        </p:txBody>
      </p:sp>
      <p:sp>
        <p:nvSpPr>
          <p:cNvPr id="4" name="Vehicle 1"/>
          <p:cNvSpPr/>
          <p:nvPr/>
        </p:nvSpPr>
        <p:spPr>
          <a:xfrm>
            <a:off x="45720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Vehicle 1 circle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Vehic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 motos 125-150 cm³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4,4 M FCFA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544 500 FCFA l'unité</a:t>
            </a:r>
            <a:endParaRPr lang="en-US" sz="1200" dirty="0"/>
          </a:p>
        </p:txBody>
      </p:sp>
      <p:sp>
        <p:nvSpPr>
          <p:cNvPr id="10" name="Vehicle 2"/>
          <p:cNvSpPr/>
          <p:nvPr/>
        </p:nvSpPr>
        <p:spPr>
          <a:xfrm>
            <a:off x="326898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Vehicle 2 circle"/>
          <p:cNvSpPr/>
          <p:nvPr/>
        </p:nvSpPr>
        <p:spPr>
          <a:xfrm>
            <a:off x="345186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Vehic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3766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utilitaire Hiace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5186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12,5 M FCFA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45186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occasion 2011, annonce Douala</a:t>
            </a:r>
            <a:endParaRPr lang="en-US" sz="1200" dirty="0"/>
          </a:p>
        </p:txBody>
      </p:sp>
      <p:sp>
        <p:nvSpPr>
          <p:cNvPr id="16" name="Vehicle 3"/>
          <p:cNvSpPr/>
          <p:nvPr/>
        </p:nvSpPr>
        <p:spPr>
          <a:xfrm>
            <a:off x="608076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Vehicle 3 circle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Vehic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véhicule de service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16,7 M FCFA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Toyota Hilux 2020</a:t>
            </a:r>
            <a:endParaRPr lang="en-US" sz="1200" dirty="0"/>
          </a:p>
        </p:txBody>
      </p:sp>
      <p:sp>
        <p:nvSpPr>
          <p:cNvPr id="22" name="Fuel box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Fuel circle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Fue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71600" y="3246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Super 840 FCFA/L · gasoil 828 FCFA/L (prix administrés depuis février 2024)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" y="3611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Risque : le coût d'importation du gasoil a atteint 975 FCFA/L en octobre 2026 et l'État réduit ses subventions.</a:t>
            </a:r>
            <a:endParaRPr lang="en-US" sz="1300" dirty="0"/>
          </a:p>
        </p:txBody>
      </p:sp>
      <p:sp>
        <p:nvSpPr>
          <p:cNvPr id="27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Total flotte : 33,5 M FCFA (fourchette 28,9 M à 38,2 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Maison mère de Yaoundé : 31 salariés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Salaires de marché sourcés, chargés de la CNPS, du 13e mois et de l'indemnité de transport.</a:t>
            </a:r>
            <a:endParaRPr lang="en-US" sz="1400" dirty="0"/>
          </a:p>
        </p:txBody>
      </p:sp>
      <p:graphicFrame>
        <p:nvGraphicFramePr>
          <p:cNvPr id="4" name="Payroll chart" descr=""/>
          <p:cNvGraphicFramePr/>
          <p:nvPr/>
        </p:nvGraphicFramePr>
        <p:xfrm>
          <a:off x="457200" y="1325880"/>
          <a:ext cx="4846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Masse salariale chargée, M FCFA / mois (effectif)</a:t>
            </a:r>
            <a:endParaRPr lang="en-US" sz="1100" dirty="0"/>
          </a:p>
        </p:txBody>
      </p:sp>
      <p:sp>
        <p:nvSpPr>
          <p:cNvPr id="6" name="Payroll stat"/>
          <p:cNvSpPr/>
          <p:nvPr/>
        </p:nvSpPr>
        <p:spPr>
          <a:xfrm>
            <a:off x="5577840" y="137160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8,92 M FCFA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938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masse salariale chargée / mois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≈ 13 600 €</a:t>
            </a:r>
            <a:endParaRPr lang="en-US" sz="1000" dirty="0"/>
          </a:p>
        </p:txBody>
      </p:sp>
      <p:sp>
        <p:nvSpPr>
          <p:cNvPr id="10" name="Payroll rules"/>
          <p:cNvSpPr/>
          <p:nvPr/>
        </p:nvSpPr>
        <p:spPr>
          <a:xfrm>
            <a:off x="5577840" y="2606040"/>
            <a:ext cx="31089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697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Charges patronales : 16,2 % (CNPS, Crédit foncier, FNE)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13e mois (convention du commerce)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Transport : 1 300 FCFA par jour travaillé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+ gardiennage : 0,60 M FCFA / mois</a:t>
            </a:r>
            <a:endParaRPr lang="en-US" sz="1200" dirty="0"/>
          </a:p>
        </p:txBody>
      </p:sp>
      <p:sp>
        <p:nvSpPr>
          <p:cNvPr id="12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Hub et livraison : près de la moitié des effectifs ; l'informatique, 2e poste de masse salariale.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Les coûts de fonctionnement mensuels du groupe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24,5 M FCFA par mois (≈ 37 300 €), dont 19,1 M de charges fixes à couvrir par les commissions.</a:t>
            </a:r>
            <a:endParaRPr lang="en-US" sz="1400" dirty="0"/>
          </a:p>
        </p:txBody>
      </p:sp>
      <p:graphicFrame>
        <p:nvGraphicFramePr>
          <p:cNvPr id="4" name="Opex chart" descr=""/>
          <p:cNvGraphicFramePr/>
          <p:nvPr/>
        </p:nvGraphicFramePr>
        <p:xfrm>
          <a:off x="457200" y="132588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 FCFA / mois</a:t>
            </a:r>
            <a:endParaRPr lang="en-US" sz="1100" dirty="0"/>
          </a:p>
        </p:txBody>
      </p:sp>
      <p:sp>
        <p:nvSpPr>
          <p:cNvPr id="6" name="France share"/>
          <p:cNvSpPr/>
          <p:nvPr/>
        </p:nvSpPr>
        <p:spPr>
          <a:xfrm>
            <a:off x="5760720" y="137160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41 %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du total pour le siège France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3 postes aux salaires français</a:t>
            </a:r>
            <a:endParaRPr lang="en-US" sz="1000" dirty="0"/>
          </a:p>
        </p:txBody>
      </p:sp>
      <p:sp>
        <p:nvSpPr>
          <p:cNvPr id="10" name="Amort stat"/>
          <p:cNvSpPr/>
          <p:nvPr/>
        </p:nvSpPr>
        <p:spPr>
          <a:xfrm>
            <a:off x="5760720" y="2560320"/>
            <a:ext cx="2926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3,33 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FCFA d'amortissements / mois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bâtiment 20 ans, matériel 3 à 10 ans</a:t>
            </a:r>
            <a:endParaRPr lang="en-US" sz="1000" dirty="0"/>
          </a:p>
        </p:txBody>
      </p:sp>
      <p:sp>
        <p:nvSpPr>
          <p:cNvPr id="14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Le siège France coûte plus que toute la masse salariale de Yaoundé : recruter en France au rythme des ventes.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Impôts payés en France et au Cameroun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Remonter 100 FCFA de bénéfice camerounais vers la France : ce qu'il en reste selon la voie choisie.</a:t>
            </a:r>
            <a:endParaRPr lang="en-US" sz="1400" dirty="0"/>
          </a:p>
        </p:txBody>
      </p:sp>
      <p:graphicFrame>
        <p:nvGraphicFramePr>
          <p:cNvPr id="19" name="Ta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4805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Impôt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Cameroun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France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Impôt sur les sociétés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27,5 % (≤ 3 Md CA)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15 % puis 25 %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Impôt minimum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2,2 % du CA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TVA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19,25 %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hors champ / export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Retenue sur dividendes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15 % (11 % PME)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Retenue sur frais de siège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7,5 % ou 15 %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Dividendes reçus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95 % exonérés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Régime start-up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IS 15 % (à vérifier)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Flows chart" descr=""/>
          <p:cNvGraphicFramePr/>
          <p:nvPr/>
        </p:nvGraphicFramePr>
        <p:xfrm>
          <a:off x="5120640" y="1600200"/>
          <a:ext cx="35661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1206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Net disponible en France pour 100 FCFA de bénéfice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12064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Frais de siège : déductibles à 2,5 % du bénéfice seulement.</a:t>
            </a:r>
            <a:endParaRPr lang="en-US" sz="1100" dirty="0"/>
          </a:p>
        </p:txBody>
      </p:sp>
      <p:sp>
        <p:nvSpPr>
          <p:cNvPr id="8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Selon la voie, 32 à 45 % du bénéfice part en impôts (Cameroun et France).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vider visual" descr="stu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Visuel généré par IA, non contractuel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PARTIE 4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17373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 prix calculés sur les coûts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3154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Livraison, Studio Premium, commission : coût complet, marge, TVA, puis confrontation au marché.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Comment un prix est fixé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 prix plancher couvre tous les coûts ; le prix conseillé tient compte du marché.</a:t>
            </a:r>
            <a:endParaRPr lang="en-US" sz="1400" dirty="0"/>
          </a:p>
        </p:txBody>
      </p:sp>
      <p:sp>
        <p:nvSpPr>
          <p:cNvPr id="4" name="Price step 1"/>
          <p:cNvSpPr/>
          <p:nvPr/>
        </p:nvSpPr>
        <p:spPr>
          <a:xfrm>
            <a:off x="457200" y="1463040"/>
            <a:ext cx="1517904" cy="224028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Price step 1 circle"/>
          <p:cNvSpPr/>
          <p:nvPr/>
        </p:nvSpPr>
        <p:spPr>
          <a:xfrm>
            <a:off x="896112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rice 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Coût complet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90088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salaires, amortissements, énergie, locaux</a:t>
            </a:r>
            <a:endParaRPr lang="en-US" sz="1200" dirty="0"/>
          </a:p>
        </p:txBody>
      </p:sp>
      <p:sp>
        <p:nvSpPr>
          <p:cNvPr id="9" name="Price arrow 0"/>
          <p:cNvSpPr/>
          <p:nvPr/>
        </p:nvSpPr>
        <p:spPr>
          <a:xfrm>
            <a:off x="1993392" y="257860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Price step 2"/>
          <p:cNvSpPr/>
          <p:nvPr/>
        </p:nvSpPr>
        <p:spPr>
          <a:xfrm>
            <a:off x="2139696" y="1463040"/>
            <a:ext cx="1517904" cy="224028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Price step 2 circle"/>
          <p:cNvSpPr/>
          <p:nvPr/>
        </p:nvSpPr>
        <p:spPr>
          <a:xfrm>
            <a:off x="2578608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Price 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18059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31136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marge de 20 %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231136" y="2990088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risques, croissance, imprévus</a:t>
            </a:r>
            <a:endParaRPr lang="en-US" sz="1200" dirty="0"/>
          </a:p>
        </p:txBody>
      </p:sp>
      <p:sp>
        <p:nvSpPr>
          <p:cNvPr id="15" name="Price arrow 1"/>
          <p:cNvSpPr/>
          <p:nvPr/>
        </p:nvSpPr>
        <p:spPr>
          <a:xfrm>
            <a:off x="3675888" y="257860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Price step 3"/>
          <p:cNvSpPr/>
          <p:nvPr/>
        </p:nvSpPr>
        <p:spPr>
          <a:xfrm>
            <a:off x="3822192" y="1463040"/>
            <a:ext cx="1517904" cy="224028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Price step 3 circle"/>
          <p:cNvSpPr/>
          <p:nvPr/>
        </p:nvSpPr>
        <p:spPr>
          <a:xfrm>
            <a:off x="4261104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Price 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18059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TVA 19,25 %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13632" y="2990088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= prix plancher TTC</a:t>
            </a:r>
            <a:endParaRPr lang="en-US" sz="1200" dirty="0"/>
          </a:p>
        </p:txBody>
      </p:sp>
      <p:sp>
        <p:nvSpPr>
          <p:cNvPr id="21" name="Price arrow 2"/>
          <p:cNvSpPr/>
          <p:nvPr/>
        </p:nvSpPr>
        <p:spPr>
          <a:xfrm>
            <a:off x="5358384" y="257860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Price step 4"/>
          <p:cNvSpPr/>
          <p:nvPr/>
        </p:nvSpPr>
        <p:spPr>
          <a:xfrm>
            <a:off x="5504688" y="1463040"/>
            <a:ext cx="1517904" cy="224028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Price step 4 circle"/>
          <p:cNvSpPr/>
          <p:nvPr/>
        </p:nvSpPr>
        <p:spPr>
          <a:xfrm>
            <a:off x="594360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Price 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8059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96128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Comparaison au marché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596128" y="2990088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prix observés au Cameroun</a:t>
            </a:r>
            <a:endParaRPr lang="en-US" sz="1200" dirty="0"/>
          </a:p>
        </p:txBody>
      </p:sp>
      <p:sp>
        <p:nvSpPr>
          <p:cNvPr id="27" name="Price arrow 3"/>
          <p:cNvSpPr/>
          <p:nvPr/>
        </p:nvSpPr>
        <p:spPr>
          <a:xfrm>
            <a:off x="7040880" y="257860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Price step 5"/>
          <p:cNvSpPr/>
          <p:nvPr/>
        </p:nvSpPr>
        <p:spPr>
          <a:xfrm>
            <a:off x="7187184" y="1463040"/>
            <a:ext cx="1517904" cy="2240280"/>
          </a:xfrm>
          <a:prstGeom prst="roundRect">
            <a:avLst>
              <a:gd name="adj" fmla="val 4819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Price step 5 circle"/>
          <p:cNvSpPr/>
          <p:nvPr/>
        </p:nvSpPr>
        <p:spPr>
          <a:xfrm>
            <a:off x="7626096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Price 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116" y="180594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78624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Prix conseillé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278624" y="2990088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jamais sous le plancher</a:t>
            </a:r>
            <a:endParaRPr lang="en-US" sz="1200" dirty="0"/>
          </a:p>
        </p:txBody>
      </p:sp>
      <p:sp>
        <p:nvSpPr>
          <p:cNvPr id="33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Conséquence : les anciens forfaits Studio (5 000 à 100 000 FCFA) étaient tous sous leur prix plancher.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Livraison intra-Yaoundé : le prix juste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Une moto livre 312 colis par mois ; 8 motos : 2 496 livraisons.</a:t>
            </a:r>
            <a:endParaRPr lang="en-US" sz="1400" dirty="0"/>
          </a:p>
        </p:txBody>
      </p:sp>
      <p:graphicFrame>
        <p:nvGraphicFramePr>
          <p:cNvPr id="4" name="Delivery chart" descr=""/>
          <p:cNvGraphicFramePr/>
          <p:nvPr/>
        </p:nvGraphicFramePr>
        <p:xfrm>
          <a:off x="457200" y="132588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Coût par livraison (FCFA)</a:t>
            </a:r>
            <a:endParaRPr lang="en-US" sz="1100" dirty="0"/>
          </a:p>
        </p:txBody>
      </p:sp>
      <p:sp>
        <p:nvSpPr>
          <p:cNvPr id="6" name="Deliv cost"/>
          <p:cNvSpPr/>
          <p:nvPr/>
        </p:nvSpPr>
        <p:spPr>
          <a:xfrm>
            <a:off x="5257800" y="137160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25780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1 512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coût de revient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FCFA</a:t>
            </a:r>
            <a:endParaRPr lang="en-US" sz="1000" dirty="0"/>
          </a:p>
        </p:txBody>
      </p:sp>
      <p:sp>
        <p:nvSpPr>
          <p:cNvPr id="10" name="Deliv floor"/>
          <p:cNvSpPr/>
          <p:nvPr/>
        </p:nvSpPr>
        <p:spPr>
          <a:xfrm>
            <a:off x="7040880" y="137160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1481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2 164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plancher TTC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+ 20 % + TVA</a:t>
            </a:r>
            <a:endParaRPr lang="en-US" sz="1000" dirty="0"/>
          </a:p>
        </p:txBody>
      </p:sp>
      <p:sp>
        <p:nvSpPr>
          <p:cNvPr id="14" name="Deliv market"/>
          <p:cNvSpPr/>
          <p:nvPr/>
        </p:nvSpPr>
        <p:spPr>
          <a:xfrm>
            <a:off x="5257800" y="256032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670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1 500–2 500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marché (course)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Cameroon Tribune</a:t>
            </a:r>
            <a:endParaRPr lang="en-US" sz="1000" dirty="0"/>
          </a:p>
        </p:txBody>
      </p:sp>
      <p:sp>
        <p:nvSpPr>
          <p:cNvPr id="18" name="Deliv rec"/>
          <p:cNvSpPr/>
          <p:nvPr/>
        </p:nvSpPr>
        <p:spPr>
          <a:xfrm>
            <a:off x="7040880" y="2560320"/>
            <a:ext cx="164592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0" y="2670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2 500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prix conseillé TTC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marge pour assurance</a:t>
            </a:r>
            <a:endParaRPr lang="en-US" sz="1000" dirty="0"/>
          </a:p>
        </p:txBody>
      </p:sp>
      <p:sp>
        <p:nvSpPr>
          <p:cNvPr id="22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Le hub coûte plus que la course : la manutention est le vrai prix de la confiance.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Studio Premium : des forfaits au-dessus du coût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Coût complet : 1,58 M FCFA / mois pour 92 heures facturables, soit 17 135 FCFA de l'heure.</a:t>
            </a:r>
            <a:endParaRPr lang="en-US" sz="1400" dirty="0"/>
          </a:p>
        </p:txBody>
      </p:sp>
      <p:graphicFrame>
        <p:nvGraphicFramePr>
          <p:cNvPr id="23" name="Stud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514600"/>
                <a:gridCol w="822960"/>
                <a:gridCol w="1005840"/>
                <a:gridCol w="100584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Forfait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Contenu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Coût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Équilibre TTC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Plancher TTC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Conseillé TTC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Ancien prix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 produits en packshot fond blanc, retouchés + fiches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10 710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12 771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15 326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25 000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5 000–10 000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Boost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 packshots + 5 lifestyle + 1 flyer + 1 short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56 404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67 262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80 715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90 000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20 000–35 000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Business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 packshots + 10 lifestyle + mini-branding + 3 shorts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168 499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200 935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241 122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245 000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50 000–100 000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4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Studio market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Studio market circle"/>
          <p:cNvSpPr/>
          <p:nvPr/>
        </p:nvSpPr>
        <p:spPr>
          <a:xfrm>
            <a:off x="640080" y="344728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Studio marke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844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38328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Marché à Douala et Yaoundé : packshot 5 000 à 8 000 FCFA par produit, lifestyle 10 000 à 15 000 FCFA ; studio d'agence 100 000 FCFA de l'heure.</a:t>
            </a:r>
            <a:endParaRPr lang="en-US" sz="1300" dirty="0"/>
          </a:p>
        </p:txBody>
      </p:sp>
      <p:sp>
        <p:nvSpPr>
          <p:cNvPr id="9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Sous l'équilibre (12 800 FCFA pour Starter), un forfait perd de l'argent ; sous le plancher, la marge saute.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Commission et abonnement vendeur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Panier moyen de 18 500 FCFA à Douala et Yaoundé ; commission choisie dans la fourchette du marché.</a:t>
            </a:r>
            <a:endParaRPr lang="en-US" sz="1400" dirty="0"/>
          </a:p>
        </p:txBody>
      </p:sp>
      <p:sp>
        <p:nvSpPr>
          <p:cNvPr id="4" name="Commission"/>
          <p:cNvSpPr/>
          <p:nvPr/>
        </p:nvSpPr>
        <p:spPr>
          <a:xfrm>
            <a:off x="457200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15 % HT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commission ALQAVYA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17,9 % TTC · Jumia 12 à 22 %</a:t>
            </a:r>
            <a:endParaRPr lang="en-US" sz="1000" dirty="0"/>
          </a:p>
        </p:txBody>
      </p:sp>
      <p:sp>
        <p:nvSpPr>
          <p:cNvPr id="8" name="Pay fee"/>
          <p:cNvSpPr/>
          <p:nvPr/>
        </p:nvSpPr>
        <p:spPr>
          <a:xfrm>
            <a:off x="2560320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1,6 %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frais mobile money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Orange Money (estimation)</a:t>
            </a:r>
            <a:endParaRPr lang="en-US" sz="1000" dirty="0"/>
          </a:p>
        </p:txBody>
      </p:sp>
      <p:sp>
        <p:nvSpPr>
          <p:cNvPr id="12" name="Contrib"/>
          <p:cNvSpPr/>
          <p:nvPr/>
        </p:nvSpPr>
        <p:spPr>
          <a:xfrm>
            <a:off x="4663440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2 633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FCFA nets par commande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après impôts sur le CA</a:t>
            </a:r>
            <a:endParaRPr lang="en-US" sz="1000" dirty="0"/>
          </a:p>
        </p:txBody>
      </p:sp>
      <p:sp>
        <p:nvSpPr>
          <p:cNvPr id="16" name="Sub"/>
          <p:cNvSpPr/>
          <p:nvPr/>
        </p:nvSpPr>
        <p:spPr>
          <a:xfrm>
            <a:off x="6766560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10 000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abonnement premium TTC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plancher 9 580</a:t>
            </a:r>
            <a:endParaRPr lang="en-US" sz="1000" dirty="0"/>
          </a:p>
        </p:txBody>
      </p:sp>
      <p:sp>
        <p:nvSpPr>
          <p:cNvPr id="20" name="Contribution detail"/>
          <p:cNvSpPr/>
          <p:nvPr/>
        </p:nvSpPr>
        <p:spPr>
          <a:xfrm>
            <a:off x="457200" y="260604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697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CE QUE RAPPORTE UNE COMMANDE MOYENNE (FCFA)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2944368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Commission : 15 % × 18 500 = 2 775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moins frais mobile money (panier + livraison) : 331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plus marge sur la livraison, comptée au prix plancher par prudence : 302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moins minimum de perception et patente (2,48 % du CA HT) : 114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= 2 633 FCFA nets par commande</a:t>
            </a:r>
            <a:endParaRPr lang="en-US" sz="1200" dirty="0"/>
          </a:p>
        </p:txBody>
      </p:sp>
      <p:sp>
        <p:nvSpPr>
          <p:cNvPr id="23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L'abonnement couvre le temps du commercial qui suit le vendeur : 40 vendeurs premium par commercial.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Seuils de rentabilité : la filiale, puis le groupe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Charges fixes : 9,1 M FCFA par mois au Cameroun (hors livraison et studio) + 10,0 M pour le siège France.</a:t>
            </a:r>
            <a:endParaRPr lang="en-US" sz="1400" dirty="0"/>
          </a:p>
        </p:txBody>
      </p:sp>
      <p:graphicFrame>
        <p:nvGraphicFramePr>
          <p:cNvPr id="4" name="Breakeven chart" descr=""/>
          <p:cNvGraphicFramePr/>
          <p:nvPr/>
        </p:nvGraphicFramePr>
        <p:xfrm>
          <a:off x="457200" y="132588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Commandes / mois, groupe après impôts, hors provisions</a:t>
            </a:r>
            <a:endParaRPr lang="en-US" sz="1100" dirty="0"/>
          </a:p>
        </p:txBody>
      </p:sp>
      <p:sp>
        <p:nvSpPr>
          <p:cNvPr id="6" name="BE cm"/>
          <p:cNvSpPr/>
          <p:nvPr/>
        </p:nvSpPr>
        <p:spPr>
          <a:xfrm>
            <a:off x="5577840" y="132588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≈ 3 450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filiale seule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siège financé par levée</a:t>
            </a:r>
            <a:endParaRPr lang="en-US" sz="1000" dirty="0"/>
          </a:p>
        </p:txBody>
      </p:sp>
      <p:sp>
        <p:nvSpPr>
          <p:cNvPr id="10" name="BE group"/>
          <p:cNvSpPr/>
          <p:nvPr/>
        </p:nvSpPr>
        <p:spPr>
          <a:xfrm>
            <a:off x="7223760" y="132588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2376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≈ 8 750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groupe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siège financé par frais</a:t>
            </a:r>
            <a:endParaRPr lang="en-US" sz="1000" dirty="0"/>
          </a:p>
        </p:txBody>
      </p:sp>
      <p:sp>
        <p:nvSpPr>
          <p:cNvPr id="14" name="Needed"/>
          <p:cNvSpPr/>
          <p:nvPr/>
        </p:nvSpPr>
        <p:spPr>
          <a:xfrm>
            <a:off x="5577840" y="2514600"/>
            <a:ext cx="31089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AU SEUIL DU GROUPE (15 %)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8803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162 M FCFA de ventes par mois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29 motos et livreurs (+ 11,4 M FCFA de flotte)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Commission nécessaire à 5 000 commandes : 26 %</a:t>
            </a:r>
            <a:endParaRPr lang="en-US" sz="1200" dirty="0"/>
          </a:p>
        </p:txBody>
      </p:sp>
      <p:sp>
        <p:nvSpPr>
          <p:cNvPr id="17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Le siège France fait plus que doubler le seuil : le financer par levée de fonds tant que la filiale n'est pas rentable.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Ce qu'il faut retenir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 projet chiffré, des prix défendables, des seuils de rentabilité connus.</a:t>
            </a:r>
            <a:endParaRPr lang="en-US" sz="1400" dirty="0"/>
          </a:p>
        </p:txBody>
      </p:sp>
      <p:sp>
        <p:nvSpPr>
          <p:cNvPr id="4" name="Capex"/>
          <p:cNvSpPr/>
          <p:nvPr/>
        </p:nvSpPr>
        <p:spPr>
          <a:xfrm>
            <a:off x="45720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522 M FCFA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investissement maison mère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≈ 796 000 €</a:t>
            </a:r>
            <a:endParaRPr lang="en-US" sz="1000" dirty="0"/>
          </a:p>
        </p:txBody>
      </p:sp>
      <p:sp>
        <p:nvSpPr>
          <p:cNvPr id="8" name="Opex"/>
          <p:cNvSpPr/>
          <p:nvPr/>
        </p:nvSpPr>
        <p:spPr>
          <a:xfrm>
            <a:off x="326898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24,5 M FCFA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6042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coûts de fonctionnement / mois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60420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≈ 37 300 €</a:t>
            </a:r>
            <a:endParaRPr lang="en-US" sz="1000" dirty="0"/>
          </a:p>
        </p:txBody>
      </p:sp>
      <p:sp>
        <p:nvSpPr>
          <p:cNvPr id="12" name="BE"/>
          <p:cNvSpPr/>
          <p:nvPr/>
        </p:nvSpPr>
        <p:spPr>
          <a:xfrm>
            <a:off x="6080760" y="13716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3 450 / 8 750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commandes / mois à l'équilibre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filiale / groupe · 15 % · hors provisions</a:t>
            </a:r>
            <a:endParaRPr lang="en-US" sz="1000" dirty="0"/>
          </a:p>
        </p:txBody>
      </p:sp>
      <p:sp>
        <p:nvSpPr>
          <p:cNvPr id="16" name="Next steps"/>
          <p:cNvSpPr/>
          <p:nvPr/>
        </p:nvSpPr>
        <p:spPr>
          <a:xfrm>
            <a:off x="457200" y="260604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accent3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PROCHAINES ÉTAPES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71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Obtenir les devis : assurances, VRD et parking, caméras, transport du conteneur, classement douanier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Faire valider le schéma fiscal et les amortissements par un expert franco-camerounais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Financer le siège France par levée de fonds et recruter en France au rythme des commandes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Ouvrir par étapes : prouver la demande, puis construire la maison mère complète</a:t>
            </a:r>
            <a:endParaRPr lang="en-US" sz="1300" dirty="0"/>
          </a:p>
        </p:txBody>
      </p:sp>
      <p:sp>
        <p:nvSpPr>
          <p:cNvPr id="19" name="Key message"/>
          <p:cNvSpPr txBox="1"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ALQAVYA : prouver que la confiance peut devenir une infrastructure commerciale.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ALQAVYA">
  <a:themeElements>
    <a:clrScheme name="ALQAVYA">
      <a:dk1>
        <a:srgbClr val="001E23"/>
      </a:dk1>
      <a:lt1>
        <a:srgbClr val="FFFFFF"/>
      </a:lt1>
      <a:dk2>
        <a:srgbClr val="0E3238"/>
      </a:dk2>
      <a:lt2>
        <a:srgbClr val="F6F2E7"/>
      </a:lt2>
      <a:accent1>
        <a:srgbClr val="D6A02F"/>
      </a:accent1>
      <a:accent2>
        <a:srgbClr val="F2C65A"/>
      </a:accent2>
      <a:accent3>
        <a:srgbClr val="164A50"/>
      </a:accent3>
      <a:accent4>
        <a:srgbClr val="C5584A"/>
      </a:accent4>
      <a:accent5>
        <a:srgbClr val="9DB8B5"/>
      </a:accent5>
      <a:accent6>
        <a:srgbClr val="0B2A2F"/>
      </a:accent6>
      <a:hlink>
        <a:srgbClr val="F2C65A"/>
      </a:hlink>
      <a:folHlink>
        <a:srgbClr val="D6A02F"/>
      </a:folHlink>
    </a:clrScheme>
    <a:fontScheme name="ALQAVY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ALQAVYA — Implantation, coûts réels et prix</dc:title>
  <dc:subject>PptxGenJS Presentation</dc:subject>
  <dc:creator>PptxGenJS</dc:creator>
  <cp:lastModifiedBy>PptxGenJS</cp:lastModifiedBy>
  <cp:revision>1</cp:revision>
  <dcterms:created xsi:type="dcterms:W3CDTF">2026-10-14T09:42:39Z</dcterms:created>
  <dcterms:modified xsi:type="dcterms:W3CDTF">2026-10-14T09:42:39Z</dcterms:modified>
</cp:coreProperties>
</file>